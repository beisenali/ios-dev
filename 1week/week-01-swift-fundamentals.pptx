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Do not start with syntax — start with what the course grades.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last sentence out loud. It is the thesis of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Expect: why not storyboards, everyone online uses them. Answer: they hide the hierarchy and they cannot be code-reviewed.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clearly whether submissions are volunteered or anonymised — then stick to it all 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disparage SwiftUI. Students who sense a defensive curriculum stop trusting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live. Make two errors on purpose: a typo, and the wrong destination. Students who never see the instructor hit an error think errors mean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one live. Show the results sidebar.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Enforce this in lab grading from week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top three compile errors students hit in weeks 1-3.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anything else. Do not cut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Defer honestly with a date. A vague half-answer makes students stop 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to photograph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DEVELOPMENT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6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and Swift Fundamentals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5669280" cy="1234440"/>
          </a:xfrm>
          <a:prstGeom prst="roundRect">
            <a:avLst>
              <a:gd name="adj" fmla="val 3704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4251960"/>
            <a:ext cx="5266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"iOS Development 1"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84048" cy="38404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13916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63677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course is, and how it is graded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2350008"/>
            <a:ext cx="384048" cy="38404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363724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8658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UIKit and not SwiftUI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6928" y="3099816"/>
            <a:ext cx="384048" cy="38404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113532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3639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and what the files in a project do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3849624"/>
            <a:ext cx="384048" cy="38404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3863340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6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Swift: constants, types, strings, collections, control flow, functions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66928" y="4599432"/>
            <a:ext cx="384048" cy="38404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613148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3600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 things that will trip you up coming from Java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are graded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852160" cy="658368"/>
          </a:xfrm>
          <a:prstGeom prst="roundRect">
            <a:avLst>
              <a:gd name="adj" fmla="val 6944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(12, lowest dropped)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7190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2359152"/>
            <a:ext cx="5852160" cy="658368"/>
          </a:xfrm>
          <a:prstGeom prst="roundRect">
            <a:avLst>
              <a:gd name="adj" fmla="val 6944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5420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— week 7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5054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6928" y="3145536"/>
            <a:ext cx="5852160" cy="658368"/>
          </a:xfrm>
          <a:prstGeom prst="roundRect">
            <a:avLst>
              <a:gd name="adj" fmla="val 6944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3284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Endterm — week 14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291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66928" y="3931920"/>
            <a:ext cx="5852160" cy="658368"/>
          </a:xfrm>
          <a:prstGeom prst="roundRect">
            <a:avLst>
              <a:gd name="adj" fmla="val 6944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— week 15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40782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75120" y="1572768"/>
            <a:ext cx="4937760" cy="3145536"/>
          </a:xfrm>
          <a:prstGeom prst="roundRect">
            <a:avLst>
              <a:gd name="adj" fmla="val 1453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8288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0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58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743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lab mark from week 4 is design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429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separation, naming, coupling, choosing the right type. Code that works and is badly structured is a C.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that do not bend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27664" cy="1298448"/>
          </a:xfrm>
          <a:prstGeom prst="roundRect">
            <a:avLst>
              <a:gd name="adj" fmla="val 3521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384048" cy="38404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71116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8013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Xcode version is pinned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22199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upgrade mid-semester. Apple ships in September. An upgrade during exam period will break your project.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081528"/>
            <a:ext cx="11027664" cy="1298448"/>
          </a:xfrm>
          <a:prstGeom prst="roundRect">
            <a:avLst>
              <a:gd name="adj" fmla="val 3521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538728"/>
            <a:ext cx="384048" cy="38404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552444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32826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 UI only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703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storyboards in graded work. You will see one, once, in week 5.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4562856"/>
            <a:ext cx="11027664" cy="1298448"/>
          </a:xfrm>
          <a:prstGeom prst="roundRect">
            <a:avLst>
              <a:gd name="adj" fmla="val 3521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020056"/>
            <a:ext cx="384048" cy="38404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033772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7640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in git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51846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today. Weeks 8+ require real commit history, not one dump at the deadline.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lab from week 4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86400" cy="3017520"/>
          </a:xfrm>
          <a:prstGeom prst="roundRect">
            <a:avLst>
              <a:gd name="adj" fmla="val 1515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each lab, a real submission goes on screen and the room critiques it against one named criterion.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now, not in week 4, so you can plan for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285232" cy="512064"/>
          </a:xfrm>
          <a:prstGeom prst="roundRect">
            <a:avLst>
              <a:gd name="adj" fmla="val 8929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6916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2231136"/>
            <a:ext cx="5285232" cy="512064"/>
          </a:xfrm>
          <a:prstGeom prst="roundRect">
            <a:avLst>
              <a:gd name="adj" fmla="val 8929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2862072"/>
            <a:ext cx="5285232" cy="512064"/>
          </a:xfrm>
          <a:prstGeom prst="roundRect">
            <a:avLst>
              <a:gd name="adj" fmla="val 8929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29535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3493008"/>
            <a:ext cx="5285232" cy="512064"/>
          </a:xfrm>
          <a:prstGeom prst="roundRect">
            <a:avLst>
              <a:gd name="adj" fmla="val 8929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35844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4123944"/>
            <a:ext cx="5285232" cy="512064"/>
          </a:xfrm>
          <a:prstGeom prst="roundRect">
            <a:avLst>
              <a:gd name="adj" fmla="val 8929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2153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points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773168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criterion per week, rotating.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ANSWER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UIKit, when SwiftUI exists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94960" cy="2331720"/>
          </a:xfrm>
          <a:prstGeom prst="roundRect">
            <a:avLst>
              <a:gd name="adj" fmla="val 1961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DE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gain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7914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visible — lifecycle, memory and delegation are explicit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code you will meet is UIKit or hybrid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semester is about what happens underneath. That is far easier to see here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9632" y="1600200"/>
            <a:ext cx="5394960" cy="2331720"/>
          </a:xfrm>
          <a:prstGeom prst="roundRect">
            <a:avLst>
              <a:gd name="adj" fmla="val 1961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01384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give up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01384" y="2286000"/>
            <a:ext cx="47914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is not taught in this course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meet it in internships and interviews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gives you a map and where to read next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2245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trade: depth in one paradigm over shallow coverage of two.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— LIVE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27664" cy="603504"/>
          </a:xfrm>
          <a:prstGeom prst="roundRect">
            <a:avLst>
              <a:gd name="adj" fmla="val 7576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64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— your files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340864"/>
            <a:ext cx="11027664" cy="603504"/>
          </a:xfrm>
          <a:prstGeom prst="roundRect">
            <a:avLst>
              <a:gd name="adj" fmla="val 7576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780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4963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— where you type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054096"/>
            <a:ext cx="11027664" cy="603504"/>
          </a:xfrm>
          <a:prstGeom prst="roundRect">
            <a:avLst>
              <a:gd name="adj" fmla="val 7576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1912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2095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settings for the selection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3767328"/>
            <a:ext cx="11027664" cy="603504"/>
          </a:xfrm>
          <a:prstGeom prst="roundRect">
            <a:avLst>
              <a:gd name="adj" fmla="val 7576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904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area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39227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— print output lands here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27664" cy="603504"/>
          </a:xfrm>
          <a:prstGeom prst="roundRect">
            <a:avLst>
              <a:gd name="adj" fmla="val 7576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+ destination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4636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— what runs, and where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23036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→ run → observe. That loop is the only thing you must leave this segment with.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ANATOMY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files actually do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27664" cy="585216"/>
          </a:xfrm>
          <a:prstGeom prst="roundRect">
            <a:avLst>
              <a:gd name="adj" fmla="val 7813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465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AppDelegate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76479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Process-level events — launch, termination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322576"/>
            <a:ext cx="11027664" cy="585216"/>
          </a:xfrm>
          <a:prstGeom prst="roundRect">
            <a:avLst>
              <a:gd name="adj" fmla="val 7813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41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SceneDelegate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45973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setup and UI lifecycle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11027664" cy="585216"/>
          </a:xfrm>
          <a:prstGeom prst="roundRect">
            <a:avLst>
              <a:gd name="adj" fmla="val 7813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136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ViewController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546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3712464"/>
            <a:ext cx="11027664" cy="585216"/>
          </a:xfrm>
          <a:prstGeom prst="roundRect">
            <a:avLst>
              <a:gd name="adj" fmla="val 7813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8313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Info.plist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4962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the system reads before your code runs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407408"/>
            <a:ext cx="11027664" cy="585216"/>
          </a:xfrm>
          <a:prstGeom prst="roundRect">
            <a:avLst>
              <a:gd name="adj" fmla="val 7813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44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colours, app icon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1389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differ between Xcode versions. Online tutorials will not match yours exactly.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language here first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766560" cy="2194560"/>
          </a:xfrm>
          <a:prstGeom prst="roundRect">
            <a:avLst>
              <a:gd name="adj" fmla="val 2083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6364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0" y="1645920"/>
            <a:ext cx="4005072" cy="2194560"/>
          </a:xfrm>
          <a:prstGeom prst="roundRect">
            <a:avLst>
              <a:gd name="adj" fmla="val 2083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82128" y="187452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cycle.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appear as you type.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playgrounds for weeks 1 to 4.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 reach UIKit in week 5, they stop being useful.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 fundamentals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Java. Most of this will look familiar. The parts that do not are the parts that matter.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FIRST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and var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766560" cy="2286000"/>
          </a:xfrm>
          <a:prstGeom prst="roundRect">
            <a:avLst>
              <a:gd name="adj" fmla="val 2000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63642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"Aisha"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constant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variable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fine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"Bolat"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 error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645920"/>
            <a:ext cx="4005072" cy="2286000"/>
          </a:xfrm>
          <a:prstGeom prst="roundRect">
            <a:avLst>
              <a:gd name="adj" fmla="val 2000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82128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to let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882128" y="23774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 only when you have a reason. This is the opposite of the habit you have.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warns you when a var never changes.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compiler works out the type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27664" cy="1920240"/>
          </a:xfrm>
          <a:prstGeom prst="roundRect">
            <a:avLst>
              <a:gd name="adj" fmla="val 2381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106253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9.99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Double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"iOS"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explicit when you want it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explicit changes what you get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79476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is not dynamic typing. Every type is fixed at compile time — you just did not have to write it.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 will not convert for you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86400" cy="2011680"/>
          </a:xfrm>
          <a:prstGeom prst="roundRect">
            <a:avLst>
              <a:gd name="adj" fmla="val 2273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5084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285232" cy="2011680"/>
          </a:xfrm>
          <a:prstGeom prst="roundRect">
            <a:avLst>
              <a:gd name="adj" fmla="val 2273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0528" y="1783080"/>
            <a:ext cx="48828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7.0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1027664" cy="1005840"/>
          </a:xfrm>
          <a:prstGeom prst="roundRect">
            <a:avLst>
              <a:gd name="adj" fmla="val 4545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1148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widens int to double silently. Swift refuses. Every conversion is written by you, on purpose — this will annoy you for two weeks and then start saving you.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 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no primitives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766560" cy="1828800"/>
          </a:xfrm>
          <a:prstGeom prst="roundRect">
            <a:avLst>
              <a:gd name="adj" fmla="val 2500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6364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isMultiple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"5"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0" y="1645920"/>
            <a:ext cx="4005072" cy="1828800"/>
          </a:xfrm>
          <a:prstGeom prst="roundRect">
            <a:avLst>
              <a:gd name="adj" fmla="val 2500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82128" y="18745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is a struct with methods.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int / Integer split, no boxing, no wrapper classes to remember.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Strings and interpolation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27664" cy="2286000"/>
          </a:xfrm>
          <a:prstGeom prst="roundRect">
            <a:avLst>
              <a:gd name="adj" fmla="val 2000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106253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"Arman"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\(first). You have \(score) points."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1605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 replaces concatenation. You will almost never write + between strings again.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SEMANTICS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copy is a real copy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766560" cy="2103120"/>
          </a:xfrm>
          <a:prstGeom prst="roundRect">
            <a:avLst>
              <a:gd name="adj" fmla="val 2174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6364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world"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"hello"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"hello world"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645920"/>
            <a:ext cx="4005072" cy="2103120"/>
          </a:xfrm>
          <a:prstGeom prst="roundRect">
            <a:avLst>
              <a:gd name="adj" fmla="val 2174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82128" y="18745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Java the same reasoning happens for a different reason — String is immutable.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y is genuinely a separate value.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matters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TO REMEMBER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are values, not references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2331720"/>
          </a:xfrm>
          <a:prstGeom prst="roundRect">
            <a:avLst>
              <a:gd name="adj" fmla="val 1961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828800"/>
            <a:ext cx="63642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2, 3]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2, 3, 4]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691640"/>
            <a:ext cx="4005072" cy="2331720"/>
          </a:xfrm>
          <a:prstGeom prst="roundRect">
            <a:avLst>
              <a:gd name="adj" fmla="val 1961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82128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Java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82128" y="23774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prints the same array twice.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difference is the root of value semantics in week 2, and of the memory model in week 10.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4224528"/>
            <a:ext cx="6766560" cy="1005840"/>
          </a:xfrm>
          <a:prstGeom prst="roundRect">
            <a:avLst>
              <a:gd name="adj" fmla="val 4545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4361688"/>
            <a:ext cx="6364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 — let locks the contents too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766560" cy="2011680"/>
          </a:xfrm>
          <a:prstGeom prst="roundRect">
            <a:avLst>
              <a:gd name="adj" fmla="val 2273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6364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"Ann"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"Bolat"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"Chen"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"Ann"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Optional(30)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645920"/>
            <a:ext cx="4005072" cy="2011680"/>
          </a:xfrm>
          <a:prstGeom prst="roundRect">
            <a:avLst>
              <a:gd name="adj" fmla="val 2273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82128" y="1874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Optional?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882128" y="23774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that word this week.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 it gets 90 minutes, and it is the most important idea in the language.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and for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86400" cy="2651760"/>
          </a:xfrm>
          <a:prstGeom prst="roundRect">
            <a:avLst>
              <a:gd name="adj" fmla="val 1724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50840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"pass"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1 2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1 2 3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285232" cy="2651760"/>
          </a:xfrm>
          <a:prstGeom prst="roundRect">
            <a:avLst>
              <a:gd name="adj" fmla="val 1724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01968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differences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01968" y="2377440"/>
            <a:ext cx="47000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parentheses around the condition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Braces are mandatory, even for one 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..&lt; excludes the upper bound, ... includes it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is stricter and more useful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035040" cy="2834640"/>
          </a:xfrm>
          <a:prstGeom prst="roundRect">
            <a:avLst>
              <a:gd name="adj" fmla="val 1613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56327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"none"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"low"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"high"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"negative"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645920"/>
            <a:ext cx="4736592" cy="2834640"/>
          </a:xfrm>
          <a:prstGeom prst="roundRect">
            <a:avLst>
              <a:gd name="adj" fmla="val 1613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50608" y="1874520"/>
            <a:ext cx="4151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fall-through — you never write break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exhaustive, or it will not compile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can match ranges, not just values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week 4 it matches enums with data attached, and becomes the reason to use switch at all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BEHAVIOUR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27664" cy="2194560"/>
          </a:xfrm>
          <a:prstGeom prst="roundRect">
            <a:avLst>
              <a:gd name="adj" fmla="val 2083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106253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\(name)"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"Aisha"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label is required at the call site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0690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parameter name is part of how the function is called, not just an internal detail.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labels are not decoration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86400" cy="2286000"/>
          </a:xfrm>
          <a:prstGeom prst="roundRect">
            <a:avLst>
              <a:gd name="adj" fmla="val 2000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50840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285232" cy="2286000"/>
          </a:xfrm>
          <a:prstGeom prst="roundRect">
            <a:avLst>
              <a:gd name="adj" fmla="val 2000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01968" y="1874520"/>
            <a:ext cx="4700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move(from: 0, to: 5)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correctly. move(0, 5) does not.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601968" y="2834640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naming is judged at the call site, not the declaration. This is graded.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1605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underscore removes the label. Use it only when the argument needs no explanation.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RETURNS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766560" cy="2011680"/>
          </a:xfrm>
          <a:prstGeom prst="roundRect">
            <a:avLst>
              <a:gd name="adj" fmla="val 2273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6364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C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bounds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0" y="1645920"/>
            <a:ext cx="4005072" cy="2011680"/>
          </a:xfrm>
          <a:prstGeom prst="roundRect">
            <a:avLst>
              <a:gd name="adj" fmla="val 2273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82128" y="1874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has no equivalent.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two or three related values. Past that you need a real type — which is week 4.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FROM JAVA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 list, part one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expect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9224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actually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939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and double are primitives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2093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 type with methods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624328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75234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widens to double silently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624328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3952" y="27523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conversion, always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282696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4107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references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282696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3952" y="34107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values — assignment copies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941064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069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immutable by class design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3941064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is a value type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4599432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7274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by default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4599432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47274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by default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FROM JAVA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 list, part two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expect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9224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actually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939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falls 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2093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not. No break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624328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75234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can be partial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624328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3952" y="27523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exhaustive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282696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4107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(x &gt; 5)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282696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3952" y="34107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&gt; 5 — no parens, braces required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941064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069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foo(a, b)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3941064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foo(from: a, to: b) — labels are the name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4599432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7274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4599432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2E1F1C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47274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Optionals — next lecture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lab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86400" cy="2926080"/>
          </a:xfrm>
          <a:prstGeom prst="roundRect">
            <a:avLst>
              <a:gd name="adj" fmla="val 1563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workshop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Swift. No Xcode.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set of requirements and decide what types should exist: what is a class, what is a struct, what is an enum, what does not need to exist at all.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solutions out loud.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285232" cy="2926080"/>
          </a:xfrm>
          <a:prstGeom prst="roundRect">
            <a:avLst>
              <a:gd name="adj" fmla="val 1563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01968" y="1874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a short diagnostic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3774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Ungraded. It does not affect your mark and it does not sort you into a group.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me what the room already knows, and tells you privately where you stand.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honestly — a flattering result helps nobody.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C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lecture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27664" cy="914400"/>
          </a:xfrm>
          <a:prstGeom prst="roundRect">
            <a:avLst>
              <a:gd name="adj" fmla="val 5000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56816"/>
            <a:ext cx="384048" cy="38404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70532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91109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installed at the pinned version, a project that builds, screenshot committed to your repo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788920"/>
            <a:ext cx="11027664" cy="914400"/>
          </a:xfrm>
          <a:prstGeom prst="roundRect">
            <a:avLst>
              <a:gd name="adj" fmla="val 5000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054096"/>
            <a:ext cx="384048" cy="38404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067812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00837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playground with every construct from today, typed by hand — not copied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3886200"/>
            <a:ext cx="11027664" cy="914400"/>
          </a:xfrm>
          <a:prstGeom prst="roundRect">
            <a:avLst>
              <a:gd name="adj" fmla="val 5000"/>
            </a:avLst>
          </a:prstGeom>
          <a:solidFill>
            <a:srgbClr val="26262E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151376"/>
            <a:ext cx="384048" cy="38404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165092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10565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about something that surprised you today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0292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problems are normal and they are not your fault. Post them on the forum — the first 24 hours generate more support requests than any other week.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Optionals, value semantics,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Swift's class model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initialisation, deinit, access control, final. The hardest lecture of the first block — come having typed this week's code.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6035040" cy="868680"/>
          </a:xfrm>
          <a:prstGeom prst="roundRect">
            <a:avLst>
              <a:gd name="adj" fmla="val 5263"/>
            </a:avLst>
          </a:prstGeom>
          <a:solidFill>
            <a:srgbClr val="141419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5029200"/>
            <a:ext cx="5632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maybe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7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see you Tuesday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— Toolchain and Swift Fundamentals</dc:title>
  <dc:subject>PptxGenJS Presentation</dc:subject>
  <dc:creator>iOS Development 1</dc:creator>
  <cp:lastModifiedBy>iOS Development 1</cp:lastModifiedBy>
  <cp:revision>1</cp:revision>
  <dcterms:created xsi:type="dcterms:W3CDTF">2026-09-02T21:23:29Z</dcterms:created>
  <dcterms:modified xsi:type="dcterms:W3CDTF">2026-09-02T21:23:29Z</dcterms:modified>
</cp:coreProperties>
</file>